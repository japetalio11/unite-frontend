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JetBrains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JetBrainsMono-italic.fntdata"/><Relationship Id="rId10" Type="http://schemas.openxmlformats.org/officeDocument/2006/relationships/slide" Target="slides/slide5.xml"/><Relationship Id="rId32" Type="http://schemas.openxmlformats.org/officeDocument/2006/relationships/font" Target="fonts/JetBrains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JetBrains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173e5a97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9173e5a97b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173e5a97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9173e5a97b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173e5a97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9173e5a97b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173e5a97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9173e5a97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11" Type="http://schemas.openxmlformats.org/officeDocument/2006/relationships/image" Target="../media/image13.png"/><Relationship Id="rId10" Type="http://schemas.openxmlformats.org/officeDocument/2006/relationships/image" Target="../media/image5.png"/><Relationship Id="rId9" Type="http://schemas.openxmlformats.org/officeDocument/2006/relationships/image" Target="../media/image38.png"/><Relationship Id="rId5" Type="http://schemas.openxmlformats.org/officeDocument/2006/relationships/image" Target="../media/image7.png"/><Relationship Id="rId6" Type="http://schemas.openxmlformats.org/officeDocument/2006/relationships/image" Target="../media/image36.png"/><Relationship Id="rId7" Type="http://schemas.openxmlformats.org/officeDocument/2006/relationships/image" Target="../media/image10.png"/><Relationship Id="rId8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37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95437" y="1993039"/>
            <a:ext cx="820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APEX PRESENTS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90411" y="2818142"/>
            <a:ext cx="8611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UNITE</a:t>
            </a:r>
            <a:r>
              <a:rPr b="1" lang="en-US" sz="54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Architecture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95487" y="3876792"/>
            <a:ext cx="820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Comprehensive Architectural Documentation &amp; Deployment Strategy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152650" y="4645888"/>
            <a:ext cx="2095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Marc Lester E. Sulit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629150" y="4651463"/>
            <a:ext cx="251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Joseph Angelo Q. Petalio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524750" y="4645888"/>
            <a:ext cx="251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Patrick Kurt O. Villamer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69244"/>
            <a:ext cx="5229225" cy="2727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69244"/>
            <a:ext cx="5229225" cy="272772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71550" y="3388369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Objective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1550" y="3978919"/>
            <a:ext cx="4448175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Establish a robust server-side foundation for a distributed web application. Our primary goal is delivering dynamic content efficiently to a decoupled frontend while ensuring scalability and reliability.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3388369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Core Philosophy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72275" y="3978919"/>
            <a:ext cx="4448175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utilize the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Backend-for-Frontend (BFF)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architectural pattern. This separates UI rendering from complex data processing. Currently fully functional, accessible via HTTPS, and integrated with GitOps.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41694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416944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Executive Summary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18767"/>
            <a:ext cx="2543175" cy="3228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518767"/>
            <a:ext cx="2543175" cy="3228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518767"/>
            <a:ext cx="2543175" cy="3228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2518767"/>
            <a:ext cx="2543175" cy="32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292542" y="3890367"/>
            <a:ext cx="11201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Frontend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309687" y="4480917"/>
            <a:ext cx="1085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Next.js &amp; React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209675" y="5010447"/>
            <a:ext cx="1285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TailwindCSS | Vercel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191476" y="3890367"/>
            <a:ext cx="98012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Backend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024312" y="4480917"/>
            <a:ext cx="1314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Node.js &amp; Express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010025" y="5010447"/>
            <a:ext cx="1343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Render Web Services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950392" y="3890367"/>
            <a:ext cx="11201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Database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953250" y="4480917"/>
            <a:ext cx="1114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MongoDB Atlas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000875" y="5010447"/>
            <a:ext cx="10191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Mongoose ODM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989343" y="3890367"/>
            <a:ext cx="70008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791700" y="4480917"/>
            <a:ext cx="1095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Git, Jira, Figma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601200" y="5010447"/>
            <a:ext cx="1476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Version Control &amp; Mgmt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4012" y="29569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95787" y="295691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10437" y="295691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10787" y="295691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Technology Stack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810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81025" y="2456705"/>
            <a:ext cx="549068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Platform Strategy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23763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866775" y="289485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Vercel (Frontend):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Handles UI presentation, edge caching, and client routing.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66775" y="364733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Render (Backend):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Manages core business logic and persistent connections.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66775" y="4399805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Advantage: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Unlike serverless functions, Render maintains a "warm" state, guaranteeing immediate API responses without cold starts.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81025" y="289485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364733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81025" y="439980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Strategic Architecture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76300" y="2771030"/>
            <a:ext cx="497062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Configuration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162050" y="3209180"/>
            <a:ext cx="44481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Render Blueprints: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render.yaml to prevent config drift.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162050" y="3971180"/>
            <a:ext cx="44481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Build Command: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npm install ensures consistency via lockfiles.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162050" y="4733180"/>
            <a:ext cx="44481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Start Command: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node src/server.js initiates the runtime.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581775" y="2771030"/>
            <a:ext cx="497062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Environment Variables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867525" y="3209180"/>
            <a:ext cx="4448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NODE_ENV: Production optimization.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867525" y="3666380"/>
            <a:ext cx="4448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MONGODB_URI: Secure Atlas connection string.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867525" y="4123580"/>
            <a:ext cx="4448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ALLOWED_ORIGINS: Whitelists frontend URL.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867525" y="4580780"/>
            <a:ext cx="4448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EMAIL_USER/PASS: SMTP Credentials.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76300" y="32091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76300" y="39711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76300" y="47331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81775" y="32091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81775" y="36663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581775" y="41235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81775" y="45807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2050" y="326156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2050" y="402356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2050" y="4785568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Deployment &amp; Infrastructure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63403"/>
            <a:ext cx="5229225" cy="3339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63403"/>
            <a:ext cx="5229225" cy="333940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971550" y="3082528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Challenge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71550" y="3673078"/>
            <a:ext cx="44481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Browsers enforce the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Same-Origin Policy (SOP)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This security mechanism blocks direct fetch requests between distinct origins, such as Vercel (Frontend) and Render (Backend).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772275" y="3082528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Solution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772275" y="3673078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implemented strict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CORS Middleware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1111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11110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058025" y="4069258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Allowed Origins: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Whitelist trusted domains.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058025" y="4516933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Methods: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GET, POST, PUT, DELETE only.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058025" y="4964608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Credentials: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Allow secure cookies/JWT.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772275" y="406925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772275" y="451693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772275" y="496460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Security &amp; CORS Integration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73932"/>
            <a:ext cx="3486150" cy="3442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73932"/>
            <a:ext cx="3486150" cy="3442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73932"/>
            <a:ext cx="3486150" cy="344209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81025" y="5901779"/>
            <a:ext cx="11029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Middleware Pipeline: Helmet (Security) → CORS → JSON Parser → Logger → Error Handler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1904047" y="3545532"/>
            <a:ext cx="8401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Models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2014537" y="4136082"/>
            <a:ext cx="619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src/models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71550" y="4665612"/>
            <a:ext cx="27051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Mongoose schemas that define data structure and validation rules.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5325903" y="3545532"/>
            <a:ext cx="15401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Controllers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5631656" y="4136082"/>
            <a:ext cx="92868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src/controllers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4743450" y="4665612"/>
            <a:ext cx="27051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 logic, data orchestration, and request handling.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9447847" y="3545532"/>
            <a:ext cx="8401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Routes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9558337" y="4136082"/>
            <a:ext cx="619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src/routes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515350" y="4665612"/>
            <a:ext cx="27051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API endpoint definitions mapping URLs to controller functions.</a:t>
            </a:r>
            <a:endParaRPr/>
          </a:p>
        </p:txBody>
      </p:sp>
      <p:pic>
        <p:nvPicPr>
          <p:cNvPr descr="image.png" id="214" name="Google Shape;21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6925" y="261208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61208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61208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Backend MVC Structure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581025" y="2980505"/>
            <a:ext cx="110301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612175" y="2514537"/>
            <a:ext cx="269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Login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76275" y="3217737"/>
            <a:ext cx="2567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Client sends credentials 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/api/auth/login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3369662" y="2514537"/>
            <a:ext cx="269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Verify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3433762" y="3217737"/>
            <a:ext cx="2567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Backend validates against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MongoDB User Collection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127150" y="2514537"/>
            <a:ext cx="269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Issue Token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191250" y="3217737"/>
            <a:ext cx="2567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Signs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with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 ID &amp; Role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8884637" y="2514537"/>
            <a:ext cx="269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Access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948737" y="3217737"/>
            <a:ext cx="2567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Header required: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Authorization: Bearer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JWT Authentication Flow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1721643" y="3867223"/>
            <a:ext cx="476400" cy="4764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1905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479131" y="3857698"/>
            <a:ext cx="476400" cy="4764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1905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7236618" y="3857698"/>
            <a:ext cx="476400" cy="4764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1905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9994106" y="3867223"/>
            <a:ext cx="476400" cy="4764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1905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771525" y="1103560"/>
            <a:ext cx="479059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Layer: MongoDB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771525" y="1779835"/>
            <a:ext cx="4562475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771525" y="2408485"/>
            <a:ext cx="479059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NoSQL?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771525" y="2999035"/>
            <a:ext cx="45624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Chosen for flexibility, horizontal scalability, and native Node.js JSON integration.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771525" y="4058096"/>
            <a:ext cx="479059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Mongoose ODM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771525" y="4648646"/>
            <a:ext cx="45624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use Mongoose to enforce strict schemas over the flexible database. It handles data integrity, validation rules, and business logic before data ever hits the persistent storage.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771525" y="5951487"/>
            <a:ext cx="479059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Security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71525" y="6542037"/>
            <a:ext cx="4562475" cy="31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Encrypted connection strings and strict IP whitelisting to Render servers.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4238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581025" y="2370980"/>
            <a:ext cx="549068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Modeling Overview</a:t>
            </a:r>
            <a:endParaRPr/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5190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866775" y="280913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Geographic Hierarchy: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Links Provinces → Districts → Municipalities.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866775" y="356160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Staff Hierarchy: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System Admin, Coordinator, and Stakeholder roles.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866775" y="431408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Event Flow: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Tracks approval workflows for Blood Drives, Advocacy, and Training.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866775" y="537135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Chat messages and user presence monitoring.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581025" y="280913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581025" y="356160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581025" y="43140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581025" y="537135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Core Entity Relationships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581025" y="913060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Entity Relationshi</a:t>
            </a:r>
            <a:r>
              <a:rPr b="1" lang="en-US" sz="31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p: Staff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581025" y="1589335"/>
            <a:ext cx="11030100" cy="19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23" title="Screenshot from 2025-12-08 12-33-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6725" y="2010100"/>
            <a:ext cx="5091450" cy="440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581025" y="913060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Entity Relationshi</a:t>
            </a:r>
            <a:r>
              <a:rPr b="1" lang="en-US" sz="31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p: Event Request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581025" y="1589335"/>
            <a:ext cx="11030100" cy="19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4" title="Screenshot from 2025-12-08 12-32-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8379" y="2152450"/>
            <a:ext cx="5420026" cy="414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581025" y="913060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Entity Relationshi</a:t>
            </a:r>
            <a:r>
              <a:rPr b="1" lang="en-US" sz="31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p: Geographic Location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81025" y="1589335"/>
            <a:ext cx="11030100" cy="19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5" title="Screenshot from 2025-12-08 12-33-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153" y="1800000"/>
            <a:ext cx="6233700" cy="476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581025" y="913060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Entity Relationshi</a:t>
            </a:r>
            <a:r>
              <a:rPr b="1" lang="en-US" sz="31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p: Messaging Module</a:t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581025" y="1589335"/>
            <a:ext cx="11030100" cy="19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26" title="Screenshot from 2025-12-08 12-33-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6426" y="2264225"/>
            <a:ext cx="7270700" cy="416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04330"/>
            <a:ext cx="522922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04330"/>
            <a:ext cx="5229225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/>
        </p:nvSpPr>
        <p:spPr>
          <a:xfrm>
            <a:off x="971550" y="3123455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Observability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971550" y="3714005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Structured Logging: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JSON logs (INFO, WARN, ERROR) for machine parsing.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971550" y="4506366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Protection: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Rate Limiting to prevent DoS attacks and Input Sanitization against NoSQL injection.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6772275" y="3123455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Roadmap</a:t>
            </a:r>
            <a:endParaRPr/>
          </a:p>
        </p:txBody>
      </p:sp>
      <p:pic>
        <p:nvPicPr>
          <p:cNvPr descr="image.png" id="314" name="Google Shape;31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15203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15203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 txBox="1"/>
          <p:nvPr/>
        </p:nvSpPr>
        <p:spPr>
          <a:xfrm>
            <a:off x="7058025" y="3561605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Short-Term: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Automated testing (Jest) and Swagger API documentation.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7058025" y="4314080"/>
            <a:ext cx="41624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Long-Term: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Redis caching layer for high-demand endpoints and transition to microservices.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6772275" y="356160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6772275" y="43140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Reliability &amp; Roadmap</a:t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 txBox="1"/>
          <p:nvPr/>
        </p:nvSpPr>
        <p:spPr>
          <a:xfrm>
            <a:off x="4765833" y="2465040"/>
            <a:ext cx="2660332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Q&amp;A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4829175" y="4198590"/>
            <a:ext cx="25336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listening.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4829175" y="4945260"/>
            <a:ext cx="2533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Team Apex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9"/>
          <p:cNvSpPr/>
          <p:nvPr/>
        </p:nvSpPr>
        <p:spPr>
          <a:xfrm>
            <a:off x="581025" y="2960786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581025" y="3745557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 txBox="1"/>
          <p:nvPr/>
        </p:nvSpPr>
        <p:spPr>
          <a:xfrm>
            <a:off x="581025" y="296078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38" name="Google Shape;338;p29"/>
          <p:cNvSpPr/>
          <p:nvPr/>
        </p:nvSpPr>
        <p:spPr>
          <a:xfrm>
            <a:off x="581025" y="373603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581025" y="373603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 txBox="1"/>
          <p:nvPr/>
        </p:nvSpPr>
        <p:spPr>
          <a:xfrm>
            <a:off x="581025" y="374555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581025" y="452080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581025" y="452080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9"/>
          <p:cNvSpPr txBox="1"/>
          <p:nvPr/>
        </p:nvSpPr>
        <p:spPr>
          <a:xfrm>
            <a:off x="581025" y="453032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344" name="Google Shape;34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102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9"/>
          <p:cNvSpPr txBox="1"/>
          <p:nvPr/>
        </p:nvSpPr>
        <p:spPr>
          <a:xfrm>
            <a:off x="1676400" y="310366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https://d2908q01vomqb2.cloudfront.net/1b6453892473a467d07372d45eb05abc2031647a/2022/11/04/micro-frontends3.png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1676400" y="334937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  <p:pic>
        <p:nvPicPr>
          <p:cNvPr descr="image.png" id="347" name="Google Shape;34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949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9"/>
          <p:cNvSpPr txBox="1"/>
          <p:nvPr/>
        </p:nvSpPr>
        <p:spPr>
          <a:xfrm>
            <a:off x="1676400" y="3888432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https://www.mongodb.com/docs/charts/static/db3b18603663b0372ec02a4dd216b9ec/0dbfc/sample-dashboard.webp</a:t>
            </a:r>
            <a:endParaRPr/>
          </a:p>
        </p:txBody>
      </p:sp>
      <p:sp>
        <p:nvSpPr>
          <p:cNvPr id="349" name="Google Shape;349;p29"/>
          <p:cNvSpPr txBox="1"/>
          <p:nvPr/>
        </p:nvSpPr>
        <p:spPr>
          <a:xfrm>
            <a:off x="1676400" y="413414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www.mongodb.com</a:t>
            </a:r>
            <a:endParaRPr/>
          </a:p>
        </p:txBody>
      </p:sp>
      <p:pic>
        <p:nvPicPr>
          <p:cNvPr descr="image.png" id="350" name="Google Shape;35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797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9"/>
          <p:cNvSpPr txBox="1"/>
          <p:nvPr/>
        </p:nvSpPr>
        <p:spPr>
          <a:xfrm>
            <a:off x="1676400" y="467320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https://upload.wikimedia.org/wikipedia/commons/thumb/7/72/ER_Diagram_MMORPG.png/500px-ER_Diagram_MMORPG.png</a:t>
            </a:r>
            <a:endParaRPr/>
          </a:p>
        </p:txBody>
      </p:sp>
      <p:sp>
        <p:nvSpPr>
          <p:cNvPr id="352" name="Google Shape;352;p29"/>
          <p:cNvSpPr txBox="1"/>
          <p:nvPr/>
        </p:nvSpPr>
        <p:spPr>
          <a:xfrm>
            <a:off x="1676400" y="491891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en.wikipedia.org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581025" y="91306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 Sources</a:t>
            </a:r>
            <a:endParaRPr/>
          </a:p>
        </p:txBody>
      </p:sp>
      <p:sp>
        <p:nvSpPr>
          <p:cNvPr id="354" name="Google Shape;354;p29"/>
          <p:cNvSpPr/>
          <p:nvPr/>
        </p:nvSpPr>
        <p:spPr>
          <a:xfrm>
            <a:off x="581025" y="1589335"/>
            <a:ext cx="11029950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